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C0C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50" kern="0" dirty="0">
                <a:solidFill>
                  <a:srgbClr val="5C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· DESIGN CHALLENGE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247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Cross-Product Research: Where Shared Expense Apps Still Fall Short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89304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synthesized from Reddit discussions, App Store &amp; Google Play reviews, Trustpilot, and finance communities across Splitwise, Venmo, Honeydue, Tricount, and Monarch/Copilot.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682496"/>
            <a:ext cx="11247120" cy="8230"/>
          </a:xfrm>
          <a:prstGeom prst="rect">
            <a:avLst/>
          </a:prstGeom>
          <a:solidFill>
            <a:srgbClr val="26232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10512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TRYING TO…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2157984"/>
            <a:ext cx="62179" cy="62179"/>
          </a:xfrm>
          <a:prstGeom prst="oval">
            <a:avLst/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66544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shared balances accurate without manual bookkeeping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62179" cy="62179"/>
          </a:xfrm>
          <a:prstGeom prst="oval">
            <a:avLst/>
          </a:prstGeom>
          <a:solidFill>
            <a:srgbClr val="E8A83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6032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awkward conversations around money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45536"/>
            <a:ext cx="62179" cy="62179"/>
          </a:xfrm>
          <a:prstGeom prst="oval">
            <a:avLst/>
          </a:prstGeom>
          <a:solidFill>
            <a:srgbClr val="E8A83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5409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that everyone sees the same financial picture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39312"/>
            <a:ext cx="62179" cy="62179"/>
          </a:xfrm>
          <a:prstGeom prst="oval">
            <a:avLst/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47872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recurring expenses effortless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33088"/>
            <a:ext cx="62179" cy="62179"/>
          </a:xfrm>
          <a:prstGeom prst="oval">
            <a:avLst/>
          </a:prstGeom>
          <a:solidFill>
            <a:srgbClr val="E8A83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41648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less time managing finances and more time living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755648"/>
            <a:ext cx="8230" cy="3017520"/>
          </a:xfrm>
          <a:prstGeom prst="rect">
            <a:avLst/>
          </a:prstGeom>
          <a:solidFill>
            <a:srgbClr val="262320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810512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C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REVEALED RECURRING FRICTION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92240" y="206654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breaks down  </a:t>
            </a:r>
            <a:pPr indent="0" marL="0">
              <a:buNone/>
            </a:pPr>
            <a:r>
              <a:rPr lang="en-US" sz="1000" dirty="0">
                <a:solidFill>
                  <a:srgbClr val="5C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lose confidence when they can't quickly understand who owes what or when balances changed.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2560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bookkeeping is exhausting  </a:t>
            </a:r>
            <a:pPr indent="0" marL="0">
              <a:buNone/>
            </a:pPr>
            <a:r>
              <a:rPr lang="en-US" sz="1000" dirty="0">
                <a:solidFill>
                  <a:srgbClr val="5C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Forgotten expenses and recurring bills create constant, error-prone maintenance.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305409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creates social tension  </a:t>
            </a:r>
            <a:pPr indent="0" marL="0">
              <a:buNone/>
            </a:pPr>
            <a:r>
              <a:rPr lang="en-US" sz="1000" dirty="0">
                <a:solidFill>
                  <a:srgbClr val="5C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dislike chasing roommates for repayment and often become the household "finance parent."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354787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fragile  </a:t>
            </a:r>
            <a:pPr indent="0" marL="0">
              <a:buNone/>
            </a:pPr>
            <a:r>
              <a:rPr lang="en-US" sz="1000" dirty="0">
                <a:solidFill>
                  <a:srgbClr val="5C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calculations, sync issues, and unexpected charges quickly erode shared confidence.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404164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solve math — not relationships  </a:t>
            </a:r>
            <a:pPr indent="0" marL="0">
              <a:buNone/>
            </a:pPr>
            <a:r>
              <a:rPr lang="en-US" sz="1000" dirty="0">
                <a:solidFill>
                  <a:srgbClr val="5C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products calculate balances well but do little to reduce emotional friction.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0" y="5417820"/>
            <a:ext cx="160020" cy="8230"/>
          </a:xfrm>
          <a:prstGeom prst="rect">
            <a:avLst/>
          </a:prstGeom>
          <a:solidFill>
            <a:srgbClr val="2A2725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4956048"/>
            <a:ext cx="2011680" cy="932688"/>
          </a:xfrm>
          <a:prstGeom prst="roundRect">
            <a:avLst>
              <a:gd name="adj" fmla="val 7843"/>
            </a:avLst>
          </a:prstGeom>
          <a:solidFill>
            <a:srgbClr val="0D1117"/>
          </a:solidFill>
          <a:ln w="6350">
            <a:solidFill>
              <a:srgbClr val="2A272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0474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1520" y="54681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14900" y="5417820"/>
            <a:ext cx="160020" cy="8230"/>
          </a:xfrm>
          <a:prstGeom prst="rect">
            <a:avLst/>
          </a:prstGeom>
          <a:solidFill>
            <a:srgbClr val="2A2725"/>
          </a:solidFill>
          <a:ln/>
        </p:spPr>
      </p:sp>
      <p:sp>
        <p:nvSpPr>
          <p:cNvPr id="30" name="Shape 28"/>
          <p:cNvSpPr/>
          <p:nvPr/>
        </p:nvSpPr>
        <p:spPr>
          <a:xfrm>
            <a:off x="2903220" y="4956048"/>
            <a:ext cx="2011680" cy="932688"/>
          </a:xfrm>
          <a:prstGeom prst="roundRect">
            <a:avLst>
              <a:gd name="adj" fmla="val 7843"/>
            </a:avLst>
          </a:prstGeom>
          <a:solidFill>
            <a:srgbClr val="0F1218"/>
          </a:solidFill>
          <a:ln w="6350">
            <a:solidFill>
              <a:srgbClr val="2A27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03220" y="50474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903220" y="54681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Tracking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086600" y="5417820"/>
            <a:ext cx="160020" cy="8230"/>
          </a:xfrm>
          <a:prstGeom prst="rect">
            <a:avLst/>
          </a:prstGeom>
          <a:solidFill>
            <a:srgbClr val="2A2725"/>
          </a:solidFill>
          <a:ln/>
        </p:spPr>
      </p:sp>
      <p:sp>
        <p:nvSpPr>
          <p:cNvPr id="34" name="Shape 32"/>
          <p:cNvSpPr/>
          <p:nvPr/>
        </p:nvSpPr>
        <p:spPr>
          <a:xfrm>
            <a:off x="5074920" y="4956048"/>
            <a:ext cx="2011680" cy="932688"/>
          </a:xfrm>
          <a:prstGeom prst="roundRect">
            <a:avLst>
              <a:gd name="adj" fmla="val 7843"/>
            </a:avLst>
          </a:prstGeom>
          <a:solidFill>
            <a:srgbClr val="120D16"/>
          </a:solidFill>
          <a:ln w="6350">
            <a:solidFill>
              <a:srgbClr val="2A272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50474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074920" y="54681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Friction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258300" y="5417820"/>
            <a:ext cx="160020" cy="8230"/>
          </a:xfrm>
          <a:prstGeom prst="rect">
            <a:avLst/>
          </a:prstGeom>
          <a:solidFill>
            <a:srgbClr val="2A2725"/>
          </a:solidFill>
          <a:ln/>
        </p:spPr>
      </p:sp>
      <p:sp>
        <p:nvSpPr>
          <p:cNvPr id="38" name="Shape 36"/>
          <p:cNvSpPr/>
          <p:nvPr/>
        </p:nvSpPr>
        <p:spPr>
          <a:xfrm>
            <a:off x="7246620" y="4956048"/>
            <a:ext cx="2011680" cy="932688"/>
          </a:xfrm>
          <a:prstGeom prst="roundRect">
            <a:avLst>
              <a:gd name="adj" fmla="val 7843"/>
            </a:avLst>
          </a:prstGeom>
          <a:solidFill>
            <a:srgbClr val="0D1510"/>
          </a:solidFill>
          <a:ln w="6350">
            <a:solidFill>
              <a:srgbClr val="2A272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46620" y="50474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246620" y="54681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418320" y="4956048"/>
            <a:ext cx="2011680" cy="932688"/>
          </a:xfrm>
          <a:prstGeom prst="roundRect">
            <a:avLst>
              <a:gd name="adj" fmla="val 7843"/>
            </a:avLst>
          </a:prstGeom>
          <a:solidFill>
            <a:srgbClr val="18130A"/>
          </a:solidFill>
          <a:ln w="6350">
            <a:solidFill>
              <a:srgbClr val="2A272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18320" y="50474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418320" y="54681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Load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603504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C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"Patterns observed consistently across community discussions, app reviews, and user feedback — not isolated product complaints."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C0C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50" kern="0" dirty="0">
                <a:solidFill>
                  <a:srgbClr val="5C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· DESIGN CHALLENGE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Opportunities Identified Through Research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47120" cy="8230"/>
          </a:xfrm>
          <a:prstGeom prst="rect">
            <a:avLst/>
          </a:prstGeom>
          <a:solidFill>
            <a:srgbClr val="262320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343400"/>
                <a:gridCol w="5074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50" kern="0" dirty="0">
                          <a:solidFill>
                            <a:srgbClr val="E8A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NEED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50" kern="0" dirty="0">
                          <a:solidFill>
                            <a:srgbClr val="E8A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PAIN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50" kern="0" dirty="0">
                          <a:solidFill>
                            <a:srgbClr val="E8A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OPPORTUNITY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DEA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B3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question balances and edits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B3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 visibility and explainability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DEA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B3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Difficult to know who is responsible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B3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ownership explicit throughout the experience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1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DEA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Effort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B3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expense tracking is tedious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B3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bookkeeping overhead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DEA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Harmony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B3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 conversations become awkward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B3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to reduce interpersonal friction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1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DEA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B3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Unexpected costs create distrust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B3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 transparency around recurring and one-off expenses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230368"/>
            <a:ext cx="11247120" cy="932688"/>
          </a:xfrm>
          <a:prstGeom prst="roundRect">
            <a:avLst>
              <a:gd name="adj" fmla="val 7843"/>
            </a:avLst>
          </a:prstGeom>
          <a:solidFill>
            <a:srgbClr val="1C1608"/>
          </a:solidFill>
          <a:ln w="9525">
            <a:solidFill>
              <a:srgbClr val="E8A83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5321808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opportunity isn't better expense splitting — it's reducing the emotional and cognitive cost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i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managing shared finances."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2026-07-12T17:03:30Z</dcterms:created>
  <dcterms:modified xsi:type="dcterms:W3CDTF">2026-07-12T17:03:30Z</dcterms:modified>
</cp:coreProperties>
</file>